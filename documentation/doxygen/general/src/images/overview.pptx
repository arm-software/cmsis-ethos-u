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6"/>
  </p:notesMasterIdLst>
  <p:handoutMasterIdLst>
    <p:handoutMasterId r:id="rId7"/>
  </p:handoutMasterIdLst>
  <p:sldIdLst>
    <p:sldId id="548" r:id="rId2"/>
    <p:sldId id="2147479562" r:id="rId3"/>
    <p:sldId id="549" r:id="rId4"/>
    <p:sldId id="21474795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fano Cadario" initials="SC" lastIdx="1" clrIdx="0">
    <p:extLst>
      <p:ext uri="{19B8F6BF-5375-455C-9EA6-DF929625EA0E}">
        <p15:presenceInfo xmlns:p15="http://schemas.microsoft.com/office/powerpoint/2012/main" userId="S::Stefano.Cadario@arm.com::80442c5e-a86e-4e3c-a034-07962a038ecc" providerId="AD"/>
      </p:ext>
    </p:extLst>
  </p:cmAuthor>
  <p:cmAuthor id="2" name="Barbara Bengyel" initials="BB" lastIdx="1" clrIdx="1">
    <p:extLst>
      <p:ext uri="{19B8F6BF-5375-455C-9EA6-DF929625EA0E}">
        <p15:presenceInfo xmlns:p15="http://schemas.microsoft.com/office/powerpoint/2012/main" userId="S::barbara.bengyel@arm.com::e8b45ead-9f84-4a51-9340-10c649ecd501" providerId="AD"/>
      </p:ext>
    </p:extLst>
  </p:cmAuthor>
  <p:cmAuthor id="3" name="Joachim Krech" initials="JK" lastIdx="1" clrIdx="2">
    <p:extLst>
      <p:ext uri="{19B8F6BF-5375-455C-9EA6-DF929625EA0E}">
        <p15:presenceInfo xmlns:p15="http://schemas.microsoft.com/office/powerpoint/2012/main" userId="S::Joachim.Krech@arm.com::6c90bbe8-e19a-475d-8c2c-8397cc371543" providerId="AD"/>
      </p:ext>
    </p:extLst>
  </p:cmAuthor>
  <p:cmAuthor id="4" name="Reinhard Keil" initials="RK" lastIdx="1" clrIdx="3">
    <p:extLst>
      <p:ext uri="{19B8F6BF-5375-455C-9EA6-DF929625EA0E}">
        <p15:presenceInfo xmlns:p15="http://schemas.microsoft.com/office/powerpoint/2012/main" userId="S::Reinhard.Keil@arm.com::a74c14d9-6dde-4ffd-bc62-ceabab23c91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B49"/>
    <a:srgbClr val="7D868C"/>
    <a:srgbClr val="0091BD"/>
    <a:srgbClr val="A6A6A6"/>
    <a:srgbClr val="7F7F7F"/>
    <a:srgbClr val="FFC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36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720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20" d="100"/>
          <a:sy n="120" d="100"/>
        </p:scale>
        <p:origin x="4962" y="1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A3C70E-54AD-4107-B38D-530E18B05A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B342A8-7A12-4C03-B162-F43C14419A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FFADC-39A7-449E-8C68-8776E6FB3C1A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D25A0-15E5-4BF6-9F32-8BD4E1DF51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38C07-F7C1-4141-BF59-1847AE735B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69231-AFE2-4330-AF6B-EEB343F99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4614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9BAAB-B703-4BB5-9D08-B460FC03C23A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66A5B-B69C-40C5-853F-D27DDBF34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302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 models from ecosystem partners or open-source model zoos such as Hugging Face are quantized and optimized for embedded deployment. CMSIS-NN executes these optimized models on Cortex-M processors. For Ethos-U NPU targets, Vela converts model operations for NPU acceleration, while operations that cannot be converted continue to run on Cortex-M via CMSIS-NN.</a:t>
            </a:r>
          </a:p>
          <a:p>
            <a:endParaRPr lang="en-US" dirty="0"/>
          </a:p>
          <a:p>
            <a:r>
              <a:rPr lang="en-US" dirty="0"/>
              <a:t>Using these workflows, developers can deploy trained models from </a:t>
            </a:r>
            <a:r>
              <a:rPr lang="en-US" dirty="0" err="1"/>
              <a:t>PyTorch</a:t>
            </a:r>
            <a:r>
              <a:rPr lang="en-US" dirty="0"/>
              <a:t>, TensorFlow, and other frameworks onto Arm targets with optimal performance and energy efficiency, enabling intelligent capabilities in IoT devices, wearables, industrial sensors, and other edge computing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16354E-6974-4833-AB87-3220A0835E84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3268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3BBA8-B3E4-715D-038D-7794E3BDE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1F47A-60A6-7834-DB1E-7298B192A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2FF2B3-6720-ED98-3C26-D3EF19EC8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 models from ecosystem partners or open-source model zoos such as Hugging Face are quantized and optimized for embedded deployment. CMSIS-NN executes these optimized models on Cortex-M processors. For Ethos-U NPU targets, Vela converts model operations for NPU acceleration, while operations that cannot be converted continue to run on Cortex-M via CMSIS-NN.</a:t>
            </a:r>
          </a:p>
          <a:p>
            <a:endParaRPr lang="en-US" dirty="0"/>
          </a:p>
          <a:p>
            <a:r>
              <a:rPr lang="en-US" dirty="0"/>
              <a:t>Using these workflows, developers can deploy trained models from </a:t>
            </a:r>
            <a:r>
              <a:rPr lang="en-US" dirty="0" err="1"/>
              <a:t>PyTorch</a:t>
            </a:r>
            <a:r>
              <a:rPr lang="en-US" dirty="0"/>
              <a:t>, TensorFlow, and other frameworks onto Arm targets with optimal performance and energy efficiency, enabling intelligent capabilities in IoT devices, wearables, industrial sensors, and other edge computing applications.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038E3-3EF6-3220-097E-2BA6573C9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16354E-6974-4833-AB87-3220A0835E84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8853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3465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/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79425" y="1554489"/>
            <a:ext cx="11233150" cy="455323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404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E00537-4172-4053-A616-87E429C679A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20481"/>
            <a:ext cx="0" cy="451520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991131"/>
            <a:ext cx="11233150" cy="359204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31"/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0481"/>
            <a:ext cx="5345642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>
          <a:xfrm>
            <a:off x="477587" y="2202443"/>
            <a:ext cx="5347480" cy="3933245"/>
          </a:xfrm>
        </p:spPr>
        <p:txBody>
          <a:bodyPr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>
                <a:solidFill>
                  <a:srgbClr val="333E48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31"/>
          <p:cNvSpPr>
            <a:spLocks noGrp="1"/>
          </p:cNvSpPr>
          <p:nvPr>
            <p:ph type="body" sz="quarter" idx="18" hasCustomPrompt="1"/>
          </p:nvPr>
        </p:nvSpPr>
        <p:spPr>
          <a:xfrm>
            <a:off x="6341534" y="1620481"/>
            <a:ext cx="5371042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6339947" y="2202442"/>
            <a:ext cx="5372628" cy="3933246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>
                <a:solidFill>
                  <a:srgbClr val="333E48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3645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795D2F-D322-4144-8DA8-55D6A29427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48138" y="1611050"/>
            <a:ext cx="0" cy="444843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4D2EAD-40A5-4C0B-900F-916EB19FF74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051800" y="1611050"/>
            <a:ext cx="0" cy="444843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 userDrawn="1">
            <p:ph type="body" sz="quarter" idx="13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 userDrawn="1">
            <p:ph idx="1"/>
          </p:nvPr>
        </p:nvSpPr>
        <p:spPr>
          <a:xfrm>
            <a:off x="479426" y="2373786"/>
            <a:ext cx="3372644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defRPr>
                <a:solidFill>
                  <a:srgbClr val="383838"/>
                </a:solidFill>
              </a:defRPr>
            </a:lvl3pPr>
            <a:lvl4pPr>
              <a:defRPr>
                <a:solidFill>
                  <a:srgbClr val="383838"/>
                </a:solidFill>
              </a:defRPr>
            </a:lvl4pPr>
            <a:lvl5pPr>
              <a:defRPr>
                <a:solidFill>
                  <a:srgbClr val="3838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0" name="Text Placeholder 131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79425" y="1611050"/>
            <a:ext cx="3372645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 userDrawn="1">
            <p:ph idx="17"/>
          </p:nvPr>
        </p:nvSpPr>
        <p:spPr>
          <a:xfrm>
            <a:off x="4416359" y="2373786"/>
            <a:ext cx="3359281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2"/>
          <p:cNvSpPr>
            <a:spLocks noGrp="1"/>
          </p:cNvSpPr>
          <p:nvPr userDrawn="1">
            <p:ph idx="18"/>
          </p:nvPr>
        </p:nvSpPr>
        <p:spPr>
          <a:xfrm>
            <a:off x="8300113" y="2373786"/>
            <a:ext cx="3412462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131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419997" y="1611050"/>
            <a:ext cx="3359945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31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8299449" y="1611050"/>
            <a:ext cx="3413126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6028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lide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21"/>
          </p:nvPr>
        </p:nvSpPr>
        <p:spPr>
          <a:xfrm>
            <a:off x="8299119" y="2372564"/>
            <a:ext cx="3413455" cy="3686924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36" name="Group 6">
            <a:extLst>
              <a:ext uri="{FF2B5EF4-FFF2-40B4-BE49-F238E27FC236}">
                <a16:creationId xmlns:a16="http://schemas.microsoft.com/office/drawing/2014/main" id="{CCE81F77-7204-0241-970A-63C43B1D7B8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48138" y="1611050"/>
            <a:ext cx="3903662" cy="4448438"/>
            <a:chOff x="3706307" y="1883391"/>
            <a:chExt cx="3803176" cy="4472959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266E339-1F3B-8E41-B64F-AA6A42EDF7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06307" y="1883391"/>
              <a:ext cx="0" cy="447295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22B3030-62BD-3440-A850-5C6E7CCDD5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509483" y="1883391"/>
              <a:ext cx="0" cy="447295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 Placeholder 131">
            <a:extLst>
              <a:ext uri="{FF2B5EF4-FFF2-40B4-BE49-F238E27FC236}">
                <a16:creationId xmlns:a16="http://schemas.microsoft.com/office/drawing/2014/main" id="{B54BFFD1-D378-D841-B5DD-88788B48D0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11050"/>
            <a:ext cx="3372645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131">
            <a:extLst>
              <a:ext uri="{FF2B5EF4-FFF2-40B4-BE49-F238E27FC236}">
                <a16:creationId xmlns:a16="http://schemas.microsoft.com/office/drawing/2014/main" id="{E3125198-F65A-8049-9D3E-A6AF258DAE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6192" y="1611050"/>
            <a:ext cx="3359945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131">
            <a:extLst>
              <a:ext uri="{FF2B5EF4-FFF2-40B4-BE49-F238E27FC236}">
                <a16:creationId xmlns:a16="http://schemas.microsoft.com/office/drawing/2014/main" id="{7C8008EA-19DB-814F-9284-A055A2AB89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99449" y="1611050"/>
            <a:ext cx="3413126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Content Placeholder 8">
            <a:extLst>
              <a:ext uri="{FF2B5EF4-FFF2-40B4-BE49-F238E27FC236}">
                <a16:creationId xmlns:a16="http://schemas.microsoft.com/office/drawing/2014/main" id="{DD4BA2E6-FACA-5C45-B75F-9327959A67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415863" y="2372564"/>
            <a:ext cx="3360274" cy="3686924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7" name="Content Placeholder 8">
            <a:extLst>
              <a:ext uri="{FF2B5EF4-FFF2-40B4-BE49-F238E27FC236}">
                <a16:creationId xmlns:a16="http://schemas.microsoft.com/office/drawing/2014/main" id="{5AB0A5A2-CEF5-6E44-BACF-2C0296FE306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2372564"/>
            <a:ext cx="3360274" cy="3686924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71250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_narrow_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05B7A5-C1F7-41D3-815C-A3728D81DBDD}"/>
              </a:ext>
            </a:extLst>
          </p:cNvPr>
          <p:cNvCxnSpPr>
            <a:cxnSpLocks/>
          </p:cNvCxnSpPr>
          <p:nvPr userDrawn="1"/>
        </p:nvCxnSpPr>
        <p:spPr>
          <a:xfrm>
            <a:off x="3255004" y="1631950"/>
            <a:ext cx="0" cy="444060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1"/>
            <a:ext cx="11233150" cy="5128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idx="1"/>
          </p:nvPr>
        </p:nvSpPr>
        <p:spPr>
          <a:xfrm>
            <a:off x="479425" y="1631111"/>
            <a:ext cx="2619375" cy="444060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rgbClr val="333E48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1"/>
          </p:nvPr>
        </p:nvSpPr>
        <p:spPr>
          <a:xfrm>
            <a:off x="3416035" y="1631111"/>
            <a:ext cx="8296540" cy="44406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rgbClr val="333E48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1800">
                <a:solidFill>
                  <a:srgbClr val="333E48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1800">
                <a:solidFill>
                  <a:srgbClr val="333E48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1800">
                <a:solidFill>
                  <a:srgbClr val="333E4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32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41881F-8B1A-4F78-926D-54E8F515C458}"/>
              </a:ext>
            </a:extLst>
          </p:cNvPr>
          <p:cNvCxnSpPr>
            <a:cxnSpLocks/>
          </p:cNvCxnSpPr>
          <p:nvPr userDrawn="1"/>
        </p:nvCxnSpPr>
        <p:spPr>
          <a:xfrm>
            <a:off x="8932863" y="1629287"/>
            <a:ext cx="0" cy="444326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1"/>
            <a:ext cx="11233150" cy="5128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>
          <a:xfrm>
            <a:off x="9037637" y="1629597"/>
            <a:ext cx="2674937" cy="4443488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rgbClr val="333E48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21"/>
          </p:nvPr>
        </p:nvSpPr>
        <p:spPr>
          <a:xfrm>
            <a:off x="479425" y="1629287"/>
            <a:ext cx="8348664" cy="4443267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rgbClr val="333E48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1800">
                <a:solidFill>
                  <a:srgbClr val="333E48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1800">
                <a:solidFill>
                  <a:srgbClr val="333E48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1800">
                <a:solidFill>
                  <a:srgbClr val="333E4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535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3354388" y="1618445"/>
            <a:ext cx="2606675" cy="195368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rgbClr val="333E48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4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3354388" y="3755872"/>
            <a:ext cx="2606675" cy="195368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rgbClr val="333E48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5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9066213" y="1618445"/>
            <a:ext cx="2646362" cy="195368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rgbClr val="333E48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6" name="Picture Placeholder 5"/>
          <p:cNvSpPr>
            <a:spLocks noGrp="1"/>
          </p:cNvSpPr>
          <p:nvPr>
            <p:ph type="pic" sz="quarter" idx="20"/>
          </p:nvPr>
        </p:nvSpPr>
        <p:spPr>
          <a:xfrm>
            <a:off x="9066213" y="3755872"/>
            <a:ext cx="2646362" cy="195368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rgbClr val="333E48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479425" y="1618445"/>
            <a:ext cx="2619375" cy="4086225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>
                <a:solidFill>
                  <a:srgbClr val="333E48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220216" y="1618445"/>
            <a:ext cx="2606675" cy="4086225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>
                <a:solidFill>
                  <a:srgbClr val="333E48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61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2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79425" y="1629079"/>
            <a:ext cx="5481108" cy="4455197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rgbClr val="333E48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 sz="2000"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 sz="1800">
                <a:solidFill>
                  <a:srgbClr val="333E48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0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250924" y="1629080"/>
            <a:ext cx="5461651" cy="4455198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rgbClr val="333E48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83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d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able Placeholder 3"/>
          <p:cNvSpPr>
            <a:spLocks noGrp="1"/>
          </p:cNvSpPr>
          <p:nvPr>
            <p:ph type="tbl" sz="quarter" idx="13"/>
          </p:nvPr>
        </p:nvSpPr>
        <p:spPr>
          <a:xfrm>
            <a:off x="479425" y="1259574"/>
            <a:ext cx="11233150" cy="483642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92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5164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TextBox 26"/>
          <p:cNvSpPr txBox="1">
            <a:spLocks noChangeArrowheads="1"/>
          </p:cNvSpPr>
          <p:nvPr userDrawn="1"/>
        </p:nvSpPr>
        <p:spPr bwMode="auto">
          <a:xfrm>
            <a:off x="492125" y="6410643"/>
            <a:ext cx="312738" cy="1381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1000" smtClean="0">
                <a:solidFill>
                  <a:srgbClr val="7F7F7F"/>
                </a:solidFill>
              </a:rPr>
              <a:pPr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1000" dirty="0">
              <a:solidFill>
                <a:srgbClr val="7F7F7F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EB643E-3109-434C-BA97-15D4C8A5E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133061"/>
            <a:ext cx="11243088" cy="49746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27B344F3-4498-5A4F-9DA2-CB9437A253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82662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rgbClr val="7F7F7F"/>
                </a:solidFill>
              </a:rPr>
              <a:t>© 2021 Arm</a:t>
            </a:r>
            <a:endParaRPr lang="en-US" altLang="en-US" sz="1000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917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0" kern="1200" spc="-50">
          <a:solidFill>
            <a:schemeClr val="accent1"/>
          </a:solidFill>
          <a:latin typeface="+mn-lt"/>
          <a:ea typeface="ＭＳ Ｐゴシック" charset="0"/>
          <a:cs typeface="ＭＳ Ｐゴシック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9pPr>
    </p:titleStyle>
    <p:bodyStyle>
      <a:lvl1pPr marL="342900" indent="-342900" algn="l" rtl="0" eaLnBrk="1" fontAlgn="base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 typeface="Arial" charset="0"/>
        <a:buChar char="•"/>
        <a:defRPr sz="2400" kern="1200">
          <a:solidFill>
            <a:srgbClr val="333E48"/>
          </a:solidFill>
          <a:latin typeface="+mn-lt"/>
          <a:ea typeface="ＭＳ Ｐゴシック" charset="0"/>
          <a:cs typeface="ＭＳ Ｐゴシック" charset="0"/>
        </a:defRPr>
      </a:lvl1pPr>
      <a:lvl2pPr marL="58134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charset="0"/>
        <a:buChar char="•"/>
        <a:defRPr sz="2000" kern="1200">
          <a:solidFill>
            <a:srgbClr val="333E48"/>
          </a:solidFill>
          <a:latin typeface="+mn-lt"/>
          <a:ea typeface="ＭＳ Ｐゴシック" charset="0"/>
          <a:cs typeface="+mn-cs"/>
        </a:defRPr>
      </a:lvl2pPr>
      <a:lvl3pPr marL="85566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charset="0"/>
        <a:buChar char="–"/>
        <a:defRPr kern="1200">
          <a:solidFill>
            <a:srgbClr val="333E48"/>
          </a:solidFill>
          <a:latin typeface="+mn-lt"/>
          <a:ea typeface="ＭＳ Ｐゴシック" charset="0"/>
          <a:cs typeface="+mn-cs"/>
        </a:defRPr>
      </a:lvl3pPr>
      <a:lvl4pPr marL="1201738" indent="-17303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charset="2"/>
        <a:buChar char="§"/>
        <a:defRPr kern="1200">
          <a:solidFill>
            <a:srgbClr val="333E48"/>
          </a:solidFill>
          <a:latin typeface="+mn-lt"/>
          <a:ea typeface="ＭＳ Ｐゴシック" charset="0"/>
          <a:cs typeface="+mn-cs"/>
        </a:defRPr>
      </a:lvl4pPr>
      <a:lvl5pPr marL="1427163" indent="-168275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charset="0"/>
        <a:buChar char="–"/>
        <a:defRPr kern="1200">
          <a:solidFill>
            <a:srgbClr val="333E48"/>
          </a:solidFill>
          <a:latin typeface="+mn-lt"/>
          <a:ea typeface="ＭＳ Ｐゴシック" charset="0"/>
          <a:cs typeface="+mn-cs"/>
        </a:defRPr>
      </a:lvl5pPr>
      <a:lvl6pPr marL="16550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6pPr>
      <a:lvl7pPr marL="18836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7pPr>
      <a:lvl8pPr marL="21122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8pPr>
      <a:lvl9pPr marL="23408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19">
          <p15:clr>
            <a:srgbClr val="F26B43"/>
          </p15:clr>
        </p15:guide>
        <p15:guide id="4" orient="horz" pos="300">
          <p15:clr>
            <a:srgbClr val="F26B43"/>
          </p15:clr>
        </p15:guide>
        <p15:guide id="5" orient="horz" pos="4020">
          <p15:clr>
            <a:srgbClr val="F26B43"/>
          </p15:clr>
        </p15:guide>
        <p15:guide id="6" pos="7378">
          <p15:clr>
            <a:srgbClr val="F26B43"/>
          </p15:clr>
        </p15:guide>
        <p15:guide id="7" pos="302">
          <p15:clr>
            <a:srgbClr val="F26B43"/>
          </p15:clr>
        </p15:guide>
        <p15:guide id="8" pos="70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m-Examples#edge-ai-and-machine-learni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m-Examples#edge-ai-and-machine-learn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1C52A-9585-D4C0-D615-2B6323030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BE765-6FCE-D9CE-ED39-D22B67F54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112" y="1437788"/>
            <a:ext cx="3347851" cy="527685"/>
          </a:xfrm>
        </p:spPr>
        <p:txBody>
          <a:bodyPr/>
          <a:lstStyle/>
          <a:p>
            <a:r>
              <a:rPr lang="en-US" sz="1800" dirty="0"/>
              <a:t>SRAM Only Mode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D26AA7-4CC8-DD24-108A-D9BDE1244E3B}"/>
              </a:ext>
            </a:extLst>
          </p:cNvPr>
          <p:cNvSpPr/>
          <p:nvPr/>
        </p:nvSpPr>
        <p:spPr>
          <a:xfrm>
            <a:off x="1665963" y="1835781"/>
            <a:ext cx="2411134" cy="7410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  <a:defRPr/>
            </a:pPr>
            <a:r>
              <a:rPr lang="en-GB" sz="1400" b="1" dirty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Other Memory (Flash / DRAM)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  <a:defRPr/>
            </a:pPr>
            <a:r>
              <a:rPr lang="en-GB" sz="1200" b="1" i="1" dirty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not used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sz="1200" b="1" dirty="0">
              <a:solidFill>
                <a:srgbClr val="FFFFFF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44B5B-3AE0-C960-540D-52EEC0095CBF}"/>
              </a:ext>
            </a:extLst>
          </p:cNvPr>
          <p:cNvSpPr/>
          <p:nvPr/>
        </p:nvSpPr>
        <p:spPr>
          <a:xfrm>
            <a:off x="725112" y="2824615"/>
            <a:ext cx="669633" cy="707034"/>
          </a:xfrm>
          <a:prstGeom prst="rect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Ethos-U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2B7A7-20E0-4E4C-7EA7-E6AE9D2E938A}"/>
              </a:ext>
            </a:extLst>
          </p:cNvPr>
          <p:cNvSpPr/>
          <p:nvPr/>
        </p:nvSpPr>
        <p:spPr>
          <a:xfrm>
            <a:off x="1665962" y="2827459"/>
            <a:ext cx="1385322" cy="72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SRAM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const_mem_area</a:t>
            </a:r>
            <a:b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arena_mem_area</a:t>
            </a:r>
            <a:endParaRPr kumimoji="0" lang="en-US" sz="1200" b="1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7A0DC63-8944-E560-F6C5-0ABC7F01F2FE}"/>
              </a:ext>
            </a:extLst>
          </p:cNvPr>
          <p:cNvGrpSpPr/>
          <p:nvPr/>
        </p:nvGrpSpPr>
        <p:grpSpPr>
          <a:xfrm>
            <a:off x="9169572" y="1990444"/>
            <a:ext cx="650835" cy="279474"/>
            <a:chOff x="3502870" y="4684079"/>
            <a:chExt cx="650835" cy="279474"/>
          </a:xfrm>
        </p:grpSpPr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4FF89F17-ABAF-207F-E7A9-95196AAC05B9}"/>
                </a:ext>
              </a:extLst>
            </p:cNvPr>
            <p:cNvSpPr/>
            <p:nvPr/>
          </p:nvSpPr>
          <p:spPr>
            <a:xfrm>
              <a:off x="3502870" y="4684079"/>
              <a:ext cx="650802" cy="107576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 w="0">
                  <a:solidFill>
                    <a:sysClr val="windowText" lastClr="000000"/>
                  </a:solidFill>
                </a:ln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7F2680C4-003A-6267-863C-CA54785768DE}"/>
                </a:ext>
              </a:extLst>
            </p:cNvPr>
            <p:cNvSpPr/>
            <p:nvPr/>
          </p:nvSpPr>
          <p:spPr>
            <a:xfrm rot="10800000">
              <a:off x="3502903" y="4855977"/>
              <a:ext cx="650802" cy="107576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 w="0">
                  <a:solidFill>
                    <a:sysClr val="windowText" lastClr="000000"/>
                  </a:solidFill>
                </a:ln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0A75800-6D7E-3551-28C2-A395FF2F3561}"/>
              </a:ext>
            </a:extLst>
          </p:cNvPr>
          <p:cNvSpPr/>
          <p:nvPr/>
        </p:nvSpPr>
        <p:spPr>
          <a:xfrm>
            <a:off x="3319709" y="2837143"/>
            <a:ext cx="757387" cy="726512"/>
          </a:xfrm>
          <a:prstGeom prst="rect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Cortex-M CPU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46596A1-FFC1-4A36-2B11-53AC4888AFAC}"/>
              </a:ext>
            </a:extLst>
          </p:cNvPr>
          <p:cNvGrpSpPr/>
          <p:nvPr/>
        </p:nvGrpSpPr>
        <p:grpSpPr>
          <a:xfrm>
            <a:off x="13740651" y="1990444"/>
            <a:ext cx="650835" cy="279474"/>
            <a:chOff x="3502870" y="4684079"/>
            <a:chExt cx="650835" cy="279474"/>
          </a:xfrm>
        </p:grpSpPr>
        <p:sp>
          <p:nvSpPr>
            <p:cNvPr id="13" name="Right Arrow 14">
              <a:extLst>
                <a:ext uri="{FF2B5EF4-FFF2-40B4-BE49-F238E27FC236}">
                  <a16:creationId xmlns:a16="http://schemas.microsoft.com/office/drawing/2014/main" id="{0218DA4F-1838-32F6-DDD4-C0010DF9126F}"/>
                </a:ext>
              </a:extLst>
            </p:cNvPr>
            <p:cNvSpPr/>
            <p:nvPr/>
          </p:nvSpPr>
          <p:spPr>
            <a:xfrm>
              <a:off x="3502870" y="4684079"/>
              <a:ext cx="650802" cy="107576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 w="0">
                  <a:solidFill>
                    <a:sysClr val="windowText" lastClr="000000"/>
                  </a:solidFill>
                </a:ln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ight Arrow 16">
              <a:extLst>
                <a:ext uri="{FF2B5EF4-FFF2-40B4-BE49-F238E27FC236}">
                  <a16:creationId xmlns:a16="http://schemas.microsoft.com/office/drawing/2014/main" id="{AFE64336-5C09-A8F6-690F-1F718E5D2A24}"/>
                </a:ext>
              </a:extLst>
            </p:cNvPr>
            <p:cNvSpPr/>
            <p:nvPr/>
          </p:nvSpPr>
          <p:spPr>
            <a:xfrm rot="10800000">
              <a:off x="3502903" y="4855977"/>
              <a:ext cx="650802" cy="107576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 w="0">
                  <a:solidFill>
                    <a:sysClr val="windowText" lastClr="000000"/>
                  </a:solidFill>
                </a:ln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8118648A-2920-5322-D1C1-FD5E59429D20}"/>
              </a:ext>
            </a:extLst>
          </p:cNvPr>
          <p:cNvSpPr/>
          <p:nvPr/>
        </p:nvSpPr>
        <p:spPr>
          <a:xfrm>
            <a:off x="1396141" y="3087375"/>
            <a:ext cx="268425" cy="206680"/>
          </a:xfrm>
          <a:prstGeom prst="left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58A86836-B2F1-26D1-B9BB-446163E80933}"/>
              </a:ext>
            </a:extLst>
          </p:cNvPr>
          <p:cNvSpPr/>
          <p:nvPr/>
        </p:nvSpPr>
        <p:spPr>
          <a:xfrm>
            <a:off x="3049888" y="3106306"/>
            <a:ext cx="268425" cy="206680"/>
          </a:xfrm>
          <a:prstGeom prst="left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46C180A-DB72-AEAC-34BE-AA3023011199}"/>
              </a:ext>
            </a:extLst>
          </p:cNvPr>
          <p:cNvCxnSpPr>
            <a:cxnSpLocks/>
          </p:cNvCxnSpPr>
          <p:nvPr/>
        </p:nvCxnSpPr>
        <p:spPr>
          <a:xfrm>
            <a:off x="4189956" y="1257952"/>
            <a:ext cx="0" cy="239814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tle 1">
            <a:extLst>
              <a:ext uri="{FF2B5EF4-FFF2-40B4-BE49-F238E27FC236}">
                <a16:creationId xmlns:a16="http://schemas.microsoft.com/office/drawing/2014/main" id="{91F05C55-61F9-526F-FE33-7566FD749D38}"/>
              </a:ext>
            </a:extLst>
          </p:cNvPr>
          <p:cNvSpPr txBox="1">
            <a:spLocks/>
          </p:cNvSpPr>
          <p:nvPr/>
        </p:nvSpPr>
        <p:spPr>
          <a:xfrm>
            <a:off x="4306950" y="1461646"/>
            <a:ext cx="3347849" cy="5276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0" kern="1200" spc="-50">
                <a:solidFill>
                  <a:schemeClr val="accent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Calibri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Calibri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Calibri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Calibri" charset="0"/>
              </a:defRPr>
            </a:lvl9pPr>
          </a:lstStyle>
          <a:p>
            <a:r>
              <a:rPr lang="en-US" sz="1800" dirty="0"/>
              <a:t>Shared SRAM Mode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F5136C0-D8CF-EE50-6C3C-2B5F02B1DD6A}"/>
              </a:ext>
            </a:extLst>
          </p:cNvPr>
          <p:cNvSpPr/>
          <p:nvPr/>
        </p:nvSpPr>
        <p:spPr>
          <a:xfrm>
            <a:off x="5247801" y="1859639"/>
            <a:ext cx="2411134" cy="7410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  <a:defRPr/>
            </a:pPr>
            <a:r>
              <a:rPr lang="en-GB" sz="1400" b="1" dirty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Other Memory (Flash / DRAM)</a:t>
            </a:r>
          </a:p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const_mem_area</a:t>
            </a:r>
            <a:endParaRPr lang="en-GB" sz="1200" b="1" dirty="0">
              <a:solidFill>
                <a:srgbClr val="FFFFFF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FA9E6E-4801-923C-2CB8-2CADB4C2B4A3}"/>
              </a:ext>
            </a:extLst>
          </p:cNvPr>
          <p:cNvSpPr/>
          <p:nvPr/>
        </p:nvSpPr>
        <p:spPr>
          <a:xfrm>
            <a:off x="4306950" y="2848473"/>
            <a:ext cx="669633" cy="707034"/>
          </a:xfrm>
          <a:prstGeom prst="rect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Ethos-U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6BF8355-62DC-56AE-9493-51F72B9E206B}"/>
              </a:ext>
            </a:extLst>
          </p:cNvPr>
          <p:cNvSpPr/>
          <p:nvPr/>
        </p:nvSpPr>
        <p:spPr>
          <a:xfrm>
            <a:off x="5247800" y="2851317"/>
            <a:ext cx="1385322" cy="72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SRAM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arena_mem_area</a:t>
            </a:r>
            <a:endParaRPr kumimoji="0" lang="en-US" sz="1200" b="1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D066B25-109D-123B-F732-854E91CFEBCF}"/>
              </a:ext>
            </a:extLst>
          </p:cNvPr>
          <p:cNvSpPr/>
          <p:nvPr/>
        </p:nvSpPr>
        <p:spPr>
          <a:xfrm>
            <a:off x="6901547" y="2861001"/>
            <a:ext cx="757387" cy="726512"/>
          </a:xfrm>
          <a:prstGeom prst="rect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Cortex-M CPU</a:t>
            </a:r>
          </a:p>
        </p:txBody>
      </p:sp>
      <p:sp>
        <p:nvSpPr>
          <p:cNvPr id="49" name="Arrow: Left-Right 48">
            <a:extLst>
              <a:ext uri="{FF2B5EF4-FFF2-40B4-BE49-F238E27FC236}">
                <a16:creationId xmlns:a16="http://schemas.microsoft.com/office/drawing/2014/main" id="{3DCC447C-0892-1C9B-6A7C-B467B3455FB6}"/>
              </a:ext>
            </a:extLst>
          </p:cNvPr>
          <p:cNvSpPr/>
          <p:nvPr/>
        </p:nvSpPr>
        <p:spPr>
          <a:xfrm>
            <a:off x="4977979" y="3111233"/>
            <a:ext cx="268425" cy="206680"/>
          </a:xfrm>
          <a:prstGeom prst="left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Left-Right 49">
            <a:extLst>
              <a:ext uri="{FF2B5EF4-FFF2-40B4-BE49-F238E27FC236}">
                <a16:creationId xmlns:a16="http://schemas.microsoft.com/office/drawing/2014/main" id="{67AA1B20-FAE2-CCDC-389E-B2093C3B3CA3}"/>
              </a:ext>
            </a:extLst>
          </p:cNvPr>
          <p:cNvSpPr/>
          <p:nvPr/>
        </p:nvSpPr>
        <p:spPr>
          <a:xfrm>
            <a:off x="6631726" y="3130164"/>
            <a:ext cx="268425" cy="206680"/>
          </a:xfrm>
          <a:prstGeom prst="left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75119A6-1C30-232B-DF9C-CDC443679CE1}"/>
              </a:ext>
            </a:extLst>
          </p:cNvPr>
          <p:cNvCxnSpPr>
            <a:cxnSpLocks/>
          </p:cNvCxnSpPr>
          <p:nvPr/>
        </p:nvCxnSpPr>
        <p:spPr>
          <a:xfrm>
            <a:off x="7771794" y="1281810"/>
            <a:ext cx="0" cy="239814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itle 1">
            <a:extLst>
              <a:ext uri="{FF2B5EF4-FFF2-40B4-BE49-F238E27FC236}">
                <a16:creationId xmlns:a16="http://schemas.microsoft.com/office/drawing/2014/main" id="{07BF68A1-245E-BCC1-41A9-9F9F3FF33FD9}"/>
              </a:ext>
            </a:extLst>
          </p:cNvPr>
          <p:cNvSpPr txBox="1">
            <a:spLocks/>
          </p:cNvSpPr>
          <p:nvPr/>
        </p:nvSpPr>
        <p:spPr>
          <a:xfrm>
            <a:off x="7876261" y="1485504"/>
            <a:ext cx="3351983" cy="5276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0" kern="1200" spc="-50">
                <a:solidFill>
                  <a:schemeClr val="accent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Calibri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Calibri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Calibri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Calibri" charset="0"/>
              </a:defRPr>
            </a:lvl9pPr>
          </a:lstStyle>
          <a:p>
            <a:r>
              <a:rPr lang="en-US" sz="1800" dirty="0"/>
              <a:t>Dedicated SRAM Mode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89BC078-3D3F-94AE-34C0-1ACDE1E08D4E}"/>
              </a:ext>
            </a:extLst>
          </p:cNvPr>
          <p:cNvSpPr/>
          <p:nvPr/>
        </p:nvSpPr>
        <p:spPr>
          <a:xfrm>
            <a:off x="8817113" y="1883497"/>
            <a:ext cx="2411134" cy="74100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 eaLnBrk="0" fontAlgn="base" hangingPunct="0">
              <a:spcBef>
                <a:spcPct val="0"/>
              </a:spcBef>
              <a:spcAft>
                <a:spcPts val="600"/>
              </a:spcAft>
              <a:defRPr/>
            </a:pPr>
            <a:r>
              <a:rPr lang="en-GB" sz="1400" b="1" dirty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Other Memory (Flash / DRAM)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const_mem_area</a:t>
            </a:r>
            <a:b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arena_mem_area</a:t>
            </a:r>
            <a:endParaRPr lang="en-US" sz="1200" b="1" dirty="0">
              <a:solidFill>
                <a:schemeClr val="bg1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sz="1200" b="1" dirty="0">
              <a:solidFill>
                <a:srgbClr val="FFFFFF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295699C-7013-DA38-076E-222C961C8C90}"/>
              </a:ext>
            </a:extLst>
          </p:cNvPr>
          <p:cNvSpPr/>
          <p:nvPr/>
        </p:nvSpPr>
        <p:spPr>
          <a:xfrm>
            <a:off x="7876262" y="2872331"/>
            <a:ext cx="669633" cy="707034"/>
          </a:xfrm>
          <a:prstGeom prst="rect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Ethos-U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ED8BC97-DCCC-F211-8D15-B5AF72CBF4BE}"/>
              </a:ext>
            </a:extLst>
          </p:cNvPr>
          <p:cNvSpPr/>
          <p:nvPr/>
        </p:nvSpPr>
        <p:spPr>
          <a:xfrm>
            <a:off x="8817112" y="2875175"/>
            <a:ext cx="1385322" cy="7265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SRAM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cache_mem_area</a:t>
            </a:r>
            <a:b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kumimoji="0" lang="en-US" sz="1200" b="1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EF8360F-5558-44F2-9178-AC5F7F2F4F23}"/>
              </a:ext>
            </a:extLst>
          </p:cNvPr>
          <p:cNvSpPr/>
          <p:nvPr/>
        </p:nvSpPr>
        <p:spPr>
          <a:xfrm>
            <a:off x="10470859" y="2884859"/>
            <a:ext cx="757387" cy="726512"/>
          </a:xfrm>
          <a:prstGeom prst="rect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Cortex-M CPU</a:t>
            </a:r>
          </a:p>
        </p:txBody>
      </p:sp>
      <p:sp>
        <p:nvSpPr>
          <p:cNvPr id="57" name="Arrow: Left-Right 56">
            <a:extLst>
              <a:ext uri="{FF2B5EF4-FFF2-40B4-BE49-F238E27FC236}">
                <a16:creationId xmlns:a16="http://schemas.microsoft.com/office/drawing/2014/main" id="{3762DDAD-5F54-4BF0-6EA1-4FD92E1E45B2}"/>
              </a:ext>
            </a:extLst>
          </p:cNvPr>
          <p:cNvSpPr/>
          <p:nvPr/>
        </p:nvSpPr>
        <p:spPr>
          <a:xfrm>
            <a:off x="8547291" y="3135091"/>
            <a:ext cx="268425" cy="206680"/>
          </a:xfrm>
          <a:prstGeom prst="left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row: Left-Right 59">
            <a:extLst>
              <a:ext uri="{FF2B5EF4-FFF2-40B4-BE49-F238E27FC236}">
                <a16:creationId xmlns:a16="http://schemas.microsoft.com/office/drawing/2014/main" id="{B820A47E-DF04-4B13-A688-52127CD25A6C}"/>
              </a:ext>
            </a:extLst>
          </p:cNvPr>
          <p:cNvSpPr/>
          <p:nvPr/>
        </p:nvSpPr>
        <p:spPr>
          <a:xfrm rot="16200000">
            <a:off x="7159059" y="2631520"/>
            <a:ext cx="268425" cy="206680"/>
          </a:xfrm>
          <a:prstGeom prst="left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E17E6C8-4BC5-63B1-94FA-1B402D4CB7FF}"/>
              </a:ext>
            </a:extLst>
          </p:cNvPr>
          <p:cNvSpPr txBox="1"/>
          <p:nvPr/>
        </p:nvSpPr>
        <p:spPr>
          <a:xfrm>
            <a:off x="4800405" y="2642503"/>
            <a:ext cx="1005853" cy="1661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80023"/>
                </a:solidFill>
                <a:effectLst/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Prefetch weights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1776095-6CFA-B6DD-96AD-A82979B9ACF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5940461" y="2600647"/>
            <a:ext cx="0" cy="25067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Arrow: Left-Right 65">
            <a:extLst>
              <a:ext uri="{FF2B5EF4-FFF2-40B4-BE49-F238E27FC236}">
                <a16:creationId xmlns:a16="http://schemas.microsoft.com/office/drawing/2014/main" id="{44280AD6-0E22-919D-EF5C-5F3BF5B667E2}"/>
              </a:ext>
            </a:extLst>
          </p:cNvPr>
          <p:cNvSpPr/>
          <p:nvPr/>
        </p:nvSpPr>
        <p:spPr>
          <a:xfrm rot="16200000">
            <a:off x="10732376" y="2652348"/>
            <a:ext cx="268425" cy="206680"/>
          </a:xfrm>
          <a:prstGeom prst="left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F6FDC51-D096-E12E-85C0-22C326B861A7}"/>
              </a:ext>
            </a:extLst>
          </p:cNvPr>
          <p:cNvSpPr txBox="1"/>
          <p:nvPr/>
        </p:nvSpPr>
        <p:spPr>
          <a:xfrm>
            <a:off x="8373722" y="2663331"/>
            <a:ext cx="1005853" cy="1661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80023"/>
                </a:solidFill>
                <a:effectLst/>
                <a:uLnTx/>
                <a:uFillTx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Prefetch weights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5E46273-BBB3-70F4-9776-0E15D721B745}"/>
              </a:ext>
            </a:extLst>
          </p:cNvPr>
          <p:cNvCxnSpPr>
            <a:cxnSpLocks/>
          </p:cNvCxnSpPr>
          <p:nvPr/>
        </p:nvCxnSpPr>
        <p:spPr>
          <a:xfrm>
            <a:off x="9513778" y="2621475"/>
            <a:ext cx="0" cy="25067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row: Left-Up 6">
            <a:extLst>
              <a:ext uri="{FF2B5EF4-FFF2-40B4-BE49-F238E27FC236}">
                <a16:creationId xmlns:a16="http://schemas.microsoft.com/office/drawing/2014/main" id="{C30C994A-EECF-B216-0FAB-8FBDCAB1DA5B}"/>
              </a:ext>
            </a:extLst>
          </p:cNvPr>
          <p:cNvSpPr/>
          <p:nvPr/>
        </p:nvSpPr>
        <p:spPr>
          <a:xfrm rot="10800000">
            <a:off x="8151065" y="2159058"/>
            <a:ext cx="669633" cy="707034"/>
          </a:xfrm>
          <a:prstGeom prst="leftUpArrow">
            <a:avLst>
              <a:gd name="adj1" fmla="val 9158"/>
              <a:gd name="adj2" fmla="val 12848"/>
              <a:gd name="adj3" fmla="val 1321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Bent-Up 7">
            <a:extLst>
              <a:ext uri="{FF2B5EF4-FFF2-40B4-BE49-F238E27FC236}">
                <a16:creationId xmlns:a16="http://schemas.microsoft.com/office/drawing/2014/main" id="{37CBD5F4-886E-DDAC-2467-3D871F7923EA}"/>
              </a:ext>
            </a:extLst>
          </p:cNvPr>
          <p:cNvSpPr/>
          <p:nvPr/>
        </p:nvSpPr>
        <p:spPr>
          <a:xfrm rot="10800000">
            <a:off x="4539272" y="2183168"/>
            <a:ext cx="707132" cy="667794"/>
          </a:xfrm>
          <a:prstGeom prst="bentUpArrow">
            <a:avLst>
              <a:gd name="adj1" fmla="val 9539"/>
              <a:gd name="adj2" fmla="val 15905"/>
              <a:gd name="adj3" fmla="val 1681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85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8CB31-D479-813F-1133-4DB5A2F61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cess 1">
            <a:extLst>
              <a:ext uri="{FF2B5EF4-FFF2-40B4-BE49-F238E27FC236}">
                <a16:creationId xmlns:a16="http://schemas.microsoft.com/office/drawing/2014/main" id="{4FCF63CE-1B35-24F1-B1FD-F082296A3DE8}"/>
              </a:ext>
            </a:extLst>
          </p:cNvPr>
          <p:cNvSpPr>
            <a:spLocks/>
          </p:cNvSpPr>
          <p:nvPr/>
        </p:nvSpPr>
        <p:spPr>
          <a:xfrm>
            <a:off x="1311874" y="2099558"/>
            <a:ext cx="3313741" cy="3125586"/>
          </a:xfrm>
          <a:prstGeom prst="flowChartProcess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algn="ctr" defTabSz="1219170">
              <a:defRPr/>
            </a:pPr>
            <a:r>
              <a:rPr lang="en-US" b="1" spc="400">
                <a:solidFill>
                  <a:srgbClr val="FFFFFF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HOST (OFFLINE)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469D0-27D4-7479-20B3-B424DE886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Ethos-U Optimized Software Flow for </a:t>
            </a:r>
            <a:r>
              <a:rPr lang="en-US" err="1"/>
              <a:t>Tensorflow</a:t>
            </a:r>
            <a:r>
              <a:rPr lang="en-US"/>
              <a:t>/</a:t>
            </a:r>
            <a:r>
              <a:rPr lang="en-US" err="1"/>
              <a:t>PyTorch</a:t>
            </a:r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9932E99C-CFB9-B2EB-9766-774541C1F6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github.com/Arm-Examples#edge-ai-and-machine-learning</a:t>
            </a:r>
            <a:endParaRPr lang="en-US"/>
          </a:p>
        </p:txBody>
      </p:sp>
      <p:sp>
        <p:nvSpPr>
          <p:cNvPr id="11" name="Process 65">
            <a:extLst>
              <a:ext uri="{FF2B5EF4-FFF2-40B4-BE49-F238E27FC236}">
                <a16:creationId xmlns:a16="http://schemas.microsoft.com/office/drawing/2014/main" id="{2A273938-131D-99FA-670C-949235DE00D4}"/>
              </a:ext>
            </a:extLst>
          </p:cNvPr>
          <p:cNvSpPr>
            <a:spLocks/>
          </p:cNvSpPr>
          <p:nvPr/>
        </p:nvSpPr>
        <p:spPr>
          <a:xfrm>
            <a:off x="4769708" y="2094471"/>
            <a:ext cx="6110417" cy="3125586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algn="ctr" defTabSz="1219170">
              <a:defRPr/>
            </a:pPr>
            <a:r>
              <a:rPr lang="en-US" b="1" spc="400" dirty="0">
                <a:solidFill>
                  <a:srgbClr val="FFFFFF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DEVICE with Ethos-U</a:t>
            </a:r>
          </a:p>
        </p:txBody>
      </p:sp>
      <p:sp>
        <p:nvSpPr>
          <p:cNvPr id="14" name="角丸四角形 7">
            <a:extLst>
              <a:ext uri="{FF2B5EF4-FFF2-40B4-BE49-F238E27FC236}">
                <a16:creationId xmlns:a16="http://schemas.microsoft.com/office/drawing/2014/main" id="{4A4BEEB3-6ABA-56BD-435A-F8B37D701949}"/>
              </a:ext>
            </a:extLst>
          </p:cNvPr>
          <p:cNvSpPr>
            <a:spLocks/>
          </p:cNvSpPr>
          <p:nvPr/>
        </p:nvSpPr>
        <p:spPr>
          <a:xfrm>
            <a:off x="7497538" y="2576367"/>
            <a:ext cx="1238946" cy="100720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121880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sv-SE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CMSIS-NN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  <a:p>
            <a:pPr marL="0" marR="0" lvl="0" indent="0" algn="ctr" defTabSz="121880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sv-SE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Optimized Kernels</a:t>
            </a:r>
            <a:endParaRPr kumimoji="0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FAB7E5-0E21-B079-B67A-C8A4D53F3621}"/>
              </a:ext>
            </a:extLst>
          </p:cNvPr>
          <p:cNvSpPr>
            <a:spLocks/>
          </p:cNvSpPr>
          <p:nvPr/>
        </p:nvSpPr>
        <p:spPr>
          <a:xfrm>
            <a:off x="9196335" y="2582562"/>
            <a:ext cx="1238946" cy="9910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80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Cortex-M</a:t>
            </a:r>
          </a:p>
          <a:p>
            <a:pPr marL="0" marR="0" lvl="0" indent="0" algn="ctr" defTabSz="121880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CPU</a:t>
            </a:r>
          </a:p>
        </p:txBody>
      </p:sp>
      <p:sp>
        <p:nvSpPr>
          <p:cNvPr id="18" name="角丸四角形 7">
            <a:extLst>
              <a:ext uri="{FF2B5EF4-FFF2-40B4-BE49-F238E27FC236}">
                <a16:creationId xmlns:a16="http://schemas.microsoft.com/office/drawing/2014/main" id="{308DED3E-3A0C-74DA-7E1C-9AA424063B8D}"/>
              </a:ext>
            </a:extLst>
          </p:cNvPr>
          <p:cNvSpPr>
            <a:spLocks/>
          </p:cNvSpPr>
          <p:nvPr/>
        </p:nvSpPr>
        <p:spPr>
          <a:xfrm>
            <a:off x="7504050" y="4050495"/>
            <a:ext cx="1238946" cy="991024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121880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sv-SE" altLang="ja-JP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Ethos-U Driver</a:t>
            </a:r>
            <a:endParaRPr kumimoji="0" lang="en-US" altLang="ja-JP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角丸四角形 6">
            <a:extLst>
              <a:ext uri="{FF2B5EF4-FFF2-40B4-BE49-F238E27FC236}">
                <a16:creationId xmlns:a16="http://schemas.microsoft.com/office/drawing/2014/main" id="{E6453D9D-7C8A-4615-4482-436DC263D8B6}"/>
              </a:ext>
            </a:extLst>
          </p:cNvPr>
          <p:cNvSpPr>
            <a:spLocks/>
          </p:cNvSpPr>
          <p:nvPr/>
        </p:nvSpPr>
        <p:spPr>
          <a:xfrm>
            <a:off x="3241807" y="3293081"/>
            <a:ext cx="1240452" cy="1054166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15875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rIns="0" rtlCol="0" anchor="ctr" anchorCtr="1"/>
          <a:lstStyle/>
          <a:p>
            <a:pPr marL="0" marR="0" lvl="0" indent="0" algn="ctr" defTabSz="121880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sv-SE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Vela</a:t>
            </a:r>
            <a:br>
              <a:rPr kumimoji="1" lang="sv-SE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</a:br>
            <a:r>
              <a:rPr kumimoji="1" lang="sv-SE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Compiler</a:t>
            </a:r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A1D85C2F-7060-6370-50A6-5ED2EDF5FE19}"/>
              </a:ext>
            </a:extLst>
          </p:cNvPr>
          <p:cNvSpPr>
            <a:spLocks/>
          </p:cNvSpPr>
          <p:nvPr/>
        </p:nvSpPr>
        <p:spPr>
          <a:xfrm>
            <a:off x="8746015" y="2836039"/>
            <a:ext cx="450320" cy="535780"/>
          </a:xfrm>
          <a:prstGeom prst="rightArrow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角丸四角形 7">
            <a:extLst>
              <a:ext uri="{FF2B5EF4-FFF2-40B4-BE49-F238E27FC236}">
                <a16:creationId xmlns:a16="http://schemas.microsoft.com/office/drawing/2014/main" id="{57BCF680-F5F7-7238-5EDB-E56AF1DFA5A8}"/>
              </a:ext>
            </a:extLst>
          </p:cNvPr>
          <p:cNvSpPr>
            <a:spLocks/>
          </p:cNvSpPr>
          <p:nvPr/>
        </p:nvSpPr>
        <p:spPr>
          <a:xfrm>
            <a:off x="9196335" y="4050495"/>
            <a:ext cx="1238946" cy="991024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121880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sv-SE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Ethos-U</a:t>
            </a:r>
            <a:br>
              <a:rPr kumimoji="1" lang="sv-SE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</a:br>
            <a:r>
              <a:rPr kumimoji="1" lang="sv-SE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NPU</a:t>
            </a:r>
            <a:endParaRPr kumimoji="0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E79C218D-32B5-55A0-FFEE-D0A945A2B352}"/>
              </a:ext>
            </a:extLst>
          </p:cNvPr>
          <p:cNvSpPr>
            <a:spLocks/>
          </p:cNvSpPr>
          <p:nvPr/>
        </p:nvSpPr>
        <p:spPr>
          <a:xfrm>
            <a:off x="8752527" y="4280854"/>
            <a:ext cx="443808" cy="535780"/>
          </a:xfrm>
          <a:prstGeom prst="rightArrow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C11D9685-00CB-8327-9BB0-5AA82FB2CD9D}"/>
              </a:ext>
            </a:extLst>
          </p:cNvPr>
          <p:cNvSpPr>
            <a:spLocks/>
          </p:cNvSpPr>
          <p:nvPr/>
        </p:nvSpPr>
        <p:spPr>
          <a:xfrm>
            <a:off x="7046273" y="2836040"/>
            <a:ext cx="450320" cy="535780"/>
          </a:xfrm>
          <a:prstGeom prst="rightArrow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39B6F44B-4D74-73EA-34D9-FC17C4F50EFA}"/>
              </a:ext>
            </a:extLst>
          </p:cNvPr>
          <p:cNvSpPr>
            <a:spLocks/>
          </p:cNvSpPr>
          <p:nvPr/>
        </p:nvSpPr>
        <p:spPr>
          <a:xfrm>
            <a:off x="7046273" y="4280855"/>
            <a:ext cx="450320" cy="535780"/>
          </a:xfrm>
          <a:prstGeom prst="rightArrow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角丸四角形 6">
            <a:extLst>
              <a:ext uri="{FF2B5EF4-FFF2-40B4-BE49-F238E27FC236}">
                <a16:creationId xmlns:a16="http://schemas.microsoft.com/office/drawing/2014/main" id="{A60B54B0-3725-80A8-C9F3-40CB43AA62DE}"/>
              </a:ext>
            </a:extLst>
          </p:cNvPr>
          <p:cNvSpPr>
            <a:spLocks/>
          </p:cNvSpPr>
          <p:nvPr/>
        </p:nvSpPr>
        <p:spPr>
          <a:xfrm rot="16200000">
            <a:off x="5536241" y="3538943"/>
            <a:ext cx="2465152" cy="5400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15875">
            <a:solidFill>
              <a:schemeClr val="accent4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marL="0" marR="0" lvl="0" indent="0" algn="ctr" defTabSz="121880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sv-SE" altLang="ja-JP" sz="1600">
                <a:solidFill>
                  <a:sysClr val="windowText" lastClr="000000"/>
                </a:solidFill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ML </a:t>
            </a:r>
            <a:r>
              <a:rPr kumimoji="1" lang="sv-SE" altLang="ja-JP" sz="1600" err="1">
                <a:solidFill>
                  <a:sysClr val="windowText" lastClr="000000"/>
                </a:solidFill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Runtime</a:t>
            </a:r>
            <a:endParaRPr kumimoji="1" lang="ja-JP" altLang="en-US" sz="16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游ゴシック" panose="020B04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7BC23331-C66C-40E8-E23E-80B78E80BFFC}"/>
              </a:ext>
            </a:extLst>
          </p:cNvPr>
          <p:cNvSpPr>
            <a:spLocks/>
          </p:cNvSpPr>
          <p:nvPr/>
        </p:nvSpPr>
        <p:spPr>
          <a:xfrm>
            <a:off x="6087419" y="3573392"/>
            <a:ext cx="411398" cy="535780"/>
          </a:xfrm>
          <a:prstGeom prst="rightArrow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角丸四角形 6">
            <a:extLst>
              <a:ext uri="{FF2B5EF4-FFF2-40B4-BE49-F238E27FC236}">
                <a16:creationId xmlns:a16="http://schemas.microsoft.com/office/drawing/2014/main" id="{FB2A90DC-6C77-EC71-6DB5-BD3632869C43}"/>
              </a:ext>
            </a:extLst>
          </p:cNvPr>
          <p:cNvSpPr>
            <a:spLocks/>
          </p:cNvSpPr>
          <p:nvPr/>
        </p:nvSpPr>
        <p:spPr>
          <a:xfrm>
            <a:off x="4927348" y="3320008"/>
            <a:ext cx="1155305" cy="97786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tIns="60960" rIns="0" bIns="60960" rtlCol="0" anchor="ctr" anchorCtr="1"/>
          <a:lstStyle/>
          <a:p>
            <a:pPr marL="0" marR="0" lvl="0" indent="0" algn="ctr" defTabSz="121880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sv-SE" altLang="ja-JP" sz="1600" dirty="0">
                <a:solidFill>
                  <a:srgbClr val="FFFFFF"/>
                </a:solidFill>
                <a:latin typeface="Arial" panose="020B0604020202020204" pitchFamily="34" charset="0"/>
                <a:ea typeface="Lato Light"/>
                <a:cs typeface="Arial" panose="020B0604020202020204" pitchFamily="34" charset="0"/>
              </a:rPr>
              <a:t>Optimized</a:t>
            </a:r>
            <a:br>
              <a:rPr kumimoji="1" lang="sv-SE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Lato Light"/>
                <a:cs typeface="Arial" panose="020B0604020202020204" pitchFamily="34" charset="0"/>
              </a:rPr>
            </a:br>
            <a:r>
              <a:rPr kumimoji="1" lang="sv-SE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Lato Light"/>
                <a:cs typeface="Arial" panose="020B0604020202020204" pitchFamily="34" charset="0"/>
              </a:rPr>
              <a:t>ML Model</a:t>
            </a:r>
            <a:endParaRPr kumimoji="0" lang="sv-SE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Lato Light"/>
              <a:cs typeface="Arial" panose="020B0604020202020204" pitchFamily="34" charset="0"/>
            </a:endParaRPr>
          </a:p>
        </p:txBody>
      </p:sp>
      <p:sp>
        <p:nvSpPr>
          <p:cNvPr id="22" name="Right Arrow 9">
            <a:extLst>
              <a:ext uri="{FF2B5EF4-FFF2-40B4-BE49-F238E27FC236}">
                <a16:creationId xmlns:a16="http://schemas.microsoft.com/office/drawing/2014/main" id="{CE681839-96C8-ECC2-5DC3-5CE8B441E008}"/>
              </a:ext>
            </a:extLst>
          </p:cNvPr>
          <p:cNvSpPr>
            <a:spLocks/>
          </p:cNvSpPr>
          <p:nvPr/>
        </p:nvSpPr>
        <p:spPr>
          <a:xfrm>
            <a:off x="4491963" y="3541052"/>
            <a:ext cx="435385" cy="535780"/>
          </a:xfrm>
          <a:prstGeom prst="rightArrow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5D14C4-1C67-E8C5-CC30-2A24D101B209}"/>
              </a:ext>
            </a:extLst>
          </p:cNvPr>
          <p:cNvCxnSpPr>
            <a:cxnSpLocks/>
          </p:cNvCxnSpPr>
          <p:nvPr/>
        </p:nvCxnSpPr>
        <p:spPr>
          <a:xfrm>
            <a:off x="2652601" y="3078074"/>
            <a:ext cx="571872" cy="495318"/>
          </a:xfrm>
          <a:prstGeom prst="straightConnector1">
            <a:avLst/>
          </a:prstGeom>
          <a:ln w="539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BB29EEB-C831-0FCF-B2A9-F37C9067320D}"/>
              </a:ext>
            </a:extLst>
          </p:cNvPr>
          <p:cNvCxnSpPr>
            <a:cxnSpLocks/>
          </p:cNvCxnSpPr>
          <p:nvPr/>
        </p:nvCxnSpPr>
        <p:spPr>
          <a:xfrm flipV="1">
            <a:off x="2845826" y="3949959"/>
            <a:ext cx="386277" cy="412710"/>
          </a:xfrm>
          <a:prstGeom prst="straightConnector1">
            <a:avLst/>
          </a:prstGeom>
          <a:ln w="539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角丸四角形 6">
            <a:extLst>
              <a:ext uri="{FF2B5EF4-FFF2-40B4-BE49-F238E27FC236}">
                <a16:creationId xmlns:a16="http://schemas.microsoft.com/office/drawing/2014/main" id="{82936832-DE0D-BA67-8E68-B672BE7EFE4C}"/>
              </a:ext>
            </a:extLst>
          </p:cNvPr>
          <p:cNvSpPr>
            <a:spLocks/>
          </p:cNvSpPr>
          <p:nvPr/>
        </p:nvSpPr>
        <p:spPr>
          <a:xfrm>
            <a:off x="1690521" y="2675403"/>
            <a:ext cx="1155305" cy="97786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tIns="60960" rIns="0" bIns="60960" rtlCol="0" anchor="ctr" anchorCtr="1"/>
          <a:lstStyle/>
          <a:p>
            <a:pPr marL="0" marR="0" lvl="0" indent="0" algn="ctr" defTabSz="121880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sv-SE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Lato Light"/>
                <a:cs typeface="Arial" panose="020B0604020202020204" pitchFamily="34" charset="0"/>
              </a:rPr>
              <a:t>Quantized</a:t>
            </a:r>
            <a:br>
              <a:rPr kumimoji="1" lang="sv-SE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Lato Light"/>
                <a:cs typeface="Arial" panose="020B0604020202020204" pitchFamily="34" charset="0"/>
              </a:rPr>
            </a:br>
            <a:r>
              <a:rPr kumimoji="1" lang="sv-SE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Lato Light"/>
                <a:cs typeface="Arial" panose="020B0604020202020204" pitchFamily="34" charset="0"/>
              </a:rPr>
              <a:t>ML Model</a:t>
            </a:r>
            <a:endParaRPr kumimoji="0" lang="sv-SE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Lato Light"/>
              <a:cs typeface="Arial" panose="020B0604020202020204" pitchFamily="34" charset="0"/>
            </a:endParaRPr>
          </a:p>
        </p:txBody>
      </p:sp>
      <p:sp>
        <p:nvSpPr>
          <p:cNvPr id="23" name="角丸四角形 6">
            <a:extLst>
              <a:ext uri="{FF2B5EF4-FFF2-40B4-BE49-F238E27FC236}">
                <a16:creationId xmlns:a16="http://schemas.microsoft.com/office/drawing/2014/main" id="{47935825-0EE0-9F16-CBB9-78D6714F99C6}"/>
              </a:ext>
            </a:extLst>
          </p:cNvPr>
          <p:cNvSpPr>
            <a:spLocks/>
          </p:cNvSpPr>
          <p:nvPr/>
        </p:nvSpPr>
        <p:spPr>
          <a:xfrm>
            <a:off x="1575379" y="3844693"/>
            <a:ext cx="1385590" cy="1242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15875">
            <a:solidFill>
              <a:srgbClr val="00C1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sz="1600" dirty="0"/>
              <a:t>Ethos-U target system &amp; memory description</a:t>
            </a:r>
            <a:endParaRPr kumimoji="1" lang="sv-SE" altLang="ja-JP" sz="14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616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F4016-9082-286D-629A-6EC100491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7EB29-3B33-4E20-229D-ECA79F3BEA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7706E-165A-E28E-6340-97057BBBC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9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35EA9-9DA8-055C-3DD8-B2078FF0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E91E9-F49C-F2B4-1591-00C1CE9D8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Ethos-U Optimized Software Flow for </a:t>
            </a:r>
            <a:r>
              <a:rPr lang="en-US" err="1"/>
              <a:t>Tensorflow</a:t>
            </a:r>
            <a:r>
              <a:rPr lang="en-US"/>
              <a:t>/</a:t>
            </a:r>
            <a:r>
              <a:rPr lang="en-US" err="1"/>
              <a:t>PyTorch</a:t>
            </a:r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F9C00EE-D2D0-725F-1CDE-43F90D3891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github.com/Arm-Examples#edge-ai-and-machine-learning</a:t>
            </a:r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FDEBA3B-14B2-3A05-B96E-C0A02F5B034C}"/>
              </a:ext>
            </a:extLst>
          </p:cNvPr>
          <p:cNvGrpSpPr/>
          <p:nvPr/>
        </p:nvGrpSpPr>
        <p:grpSpPr>
          <a:xfrm>
            <a:off x="835176" y="2094471"/>
            <a:ext cx="10585491" cy="3037366"/>
            <a:chOff x="835176" y="2094471"/>
            <a:chExt cx="10585491" cy="3037366"/>
          </a:xfrm>
        </p:grpSpPr>
        <p:sp>
          <p:nvSpPr>
            <p:cNvPr id="11" name="Process 65">
              <a:extLst>
                <a:ext uri="{FF2B5EF4-FFF2-40B4-BE49-F238E27FC236}">
                  <a16:creationId xmlns:a16="http://schemas.microsoft.com/office/drawing/2014/main" id="{18502500-A3A2-ABB6-075E-8DAE582BF83D}"/>
                </a:ext>
              </a:extLst>
            </p:cNvPr>
            <p:cNvSpPr>
              <a:spLocks/>
            </p:cNvSpPr>
            <p:nvPr/>
          </p:nvSpPr>
          <p:spPr>
            <a:xfrm>
              <a:off x="6282610" y="2094471"/>
              <a:ext cx="5138057" cy="3037366"/>
            </a:xfrm>
            <a:prstGeom prst="flowChartProcess">
              <a:avLst/>
            </a:prstGeom>
            <a:solidFill>
              <a:schemeClr val="bg2">
                <a:lumMod val="50000"/>
              </a:schemeClr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rtlCol="0" anchor="t"/>
            <a:lstStyle/>
            <a:p>
              <a:pPr defTabSz="1219170">
                <a:defRPr/>
              </a:pPr>
              <a:r>
                <a:rPr kumimoji="1" lang="en-US" sz="16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DEVICE with Ethos-U</a:t>
              </a:r>
            </a:p>
          </p:txBody>
        </p:sp>
        <p:sp>
          <p:nvSpPr>
            <p:cNvPr id="14" name="角丸四角形 7">
              <a:extLst>
                <a:ext uri="{FF2B5EF4-FFF2-40B4-BE49-F238E27FC236}">
                  <a16:creationId xmlns:a16="http://schemas.microsoft.com/office/drawing/2014/main" id="{BD4B5930-02E4-A9A3-78CE-0A29FC84E13B}"/>
                </a:ext>
              </a:extLst>
            </p:cNvPr>
            <p:cNvSpPr>
              <a:spLocks/>
            </p:cNvSpPr>
            <p:nvPr/>
          </p:nvSpPr>
          <p:spPr>
            <a:xfrm>
              <a:off x="8616018" y="2576367"/>
              <a:ext cx="1169871" cy="1007207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rIns="0" rtlCol="0" anchor="ctr" anchorCtr="1"/>
            <a:lstStyle/>
            <a:p>
              <a:pPr marL="0" marR="0" lvl="0" indent="0" algn="ctr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sv-SE" altLang="ja-JP" sz="1600" b="0" i="0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CMSIS-NN</a:t>
              </a:r>
              <a:endPara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endParaRPr>
            </a:p>
            <a:p>
              <a:pPr marL="0" marR="0" lvl="0" indent="0" algn="ctr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sv-SE" altLang="ja-JP" sz="1600" b="0" i="0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Optimized Kernels</a:t>
              </a:r>
              <a:endParaRPr kumimoji="0" lang="en-US" altLang="ja-JP" sz="1600" b="0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3469AD-C44F-E151-C9AA-AEE3D48D6FCA}"/>
                </a:ext>
              </a:extLst>
            </p:cNvPr>
            <p:cNvSpPr>
              <a:spLocks/>
            </p:cNvSpPr>
            <p:nvPr/>
          </p:nvSpPr>
          <p:spPr>
            <a:xfrm>
              <a:off x="10110645" y="2582562"/>
              <a:ext cx="1169871" cy="99102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0" i="0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Cortex-M</a:t>
              </a:r>
            </a:p>
            <a:p>
              <a:pPr marL="0" marR="0" lvl="0" indent="0" algn="ctr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0" i="0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CPU</a:t>
              </a:r>
            </a:p>
          </p:txBody>
        </p:sp>
        <p:sp>
          <p:nvSpPr>
            <p:cNvPr id="18" name="角丸四角形 7">
              <a:extLst>
                <a:ext uri="{FF2B5EF4-FFF2-40B4-BE49-F238E27FC236}">
                  <a16:creationId xmlns:a16="http://schemas.microsoft.com/office/drawing/2014/main" id="{D69323CD-3A99-268C-7957-FB66E4197C19}"/>
                </a:ext>
              </a:extLst>
            </p:cNvPr>
            <p:cNvSpPr>
              <a:spLocks/>
            </p:cNvSpPr>
            <p:nvPr/>
          </p:nvSpPr>
          <p:spPr>
            <a:xfrm>
              <a:off x="8622530" y="4050495"/>
              <a:ext cx="1169871" cy="991024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marL="0" marR="0" lvl="0" indent="0" algn="ctr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sv-SE" altLang="ja-JP" sz="1600" b="0" i="0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Ethos-U Driver</a:t>
              </a:r>
              <a:endParaRPr kumimoji="0" lang="en-US" altLang="ja-JP" sz="1600" b="0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93013D7F-D8DD-D7C7-C400-D4DA98B5730C}"/>
                </a:ext>
              </a:extLst>
            </p:cNvPr>
            <p:cNvSpPr>
              <a:spLocks/>
            </p:cNvSpPr>
            <p:nvPr/>
          </p:nvSpPr>
          <p:spPr>
            <a:xfrm>
              <a:off x="9797307" y="2823683"/>
              <a:ext cx="295860" cy="535780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角丸四角形 7">
              <a:extLst>
                <a:ext uri="{FF2B5EF4-FFF2-40B4-BE49-F238E27FC236}">
                  <a16:creationId xmlns:a16="http://schemas.microsoft.com/office/drawing/2014/main" id="{26B4E428-A624-60D3-CF7B-FD718232E9A5}"/>
                </a:ext>
              </a:extLst>
            </p:cNvPr>
            <p:cNvSpPr>
              <a:spLocks/>
            </p:cNvSpPr>
            <p:nvPr/>
          </p:nvSpPr>
          <p:spPr>
            <a:xfrm>
              <a:off x="10116823" y="4050495"/>
              <a:ext cx="1169871" cy="991024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marL="0" marR="0" lvl="0" indent="0" algn="ctr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sv-SE" altLang="ja-JP" sz="1600" b="0" i="0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Ethos-U</a:t>
              </a:r>
              <a:br>
                <a:rPr kumimoji="1" lang="sv-SE" altLang="ja-JP" sz="1600" b="0" i="0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</a:br>
              <a:r>
                <a:rPr kumimoji="1" lang="sv-SE" altLang="ja-JP" sz="1600" b="0" i="0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NPU</a:t>
              </a:r>
              <a:endParaRPr kumimoji="0" lang="en-US" altLang="ja-JP" sz="1600" b="0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ight Arrow 4">
              <a:extLst>
                <a:ext uri="{FF2B5EF4-FFF2-40B4-BE49-F238E27FC236}">
                  <a16:creationId xmlns:a16="http://schemas.microsoft.com/office/drawing/2014/main" id="{35A9DB58-9021-15D5-B0A1-248B81DEBC5C}"/>
                </a:ext>
              </a:extLst>
            </p:cNvPr>
            <p:cNvSpPr>
              <a:spLocks/>
            </p:cNvSpPr>
            <p:nvPr/>
          </p:nvSpPr>
          <p:spPr>
            <a:xfrm>
              <a:off x="9803819" y="4268498"/>
              <a:ext cx="291582" cy="535780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ight Arrow 5">
              <a:extLst>
                <a:ext uri="{FF2B5EF4-FFF2-40B4-BE49-F238E27FC236}">
                  <a16:creationId xmlns:a16="http://schemas.microsoft.com/office/drawing/2014/main" id="{6792AC77-5ADC-3376-F910-01D2C822BD50}"/>
                </a:ext>
              </a:extLst>
            </p:cNvPr>
            <p:cNvSpPr>
              <a:spLocks/>
            </p:cNvSpPr>
            <p:nvPr/>
          </p:nvSpPr>
          <p:spPr>
            <a:xfrm>
              <a:off x="8314097" y="2836040"/>
              <a:ext cx="295860" cy="535780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55BA382B-F929-ECE0-44E6-F8EB5270DB98}"/>
                </a:ext>
              </a:extLst>
            </p:cNvPr>
            <p:cNvSpPr>
              <a:spLocks/>
            </p:cNvSpPr>
            <p:nvPr/>
          </p:nvSpPr>
          <p:spPr>
            <a:xfrm>
              <a:off x="8314097" y="4280855"/>
              <a:ext cx="295860" cy="535780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角丸四角形 6">
              <a:extLst>
                <a:ext uri="{FF2B5EF4-FFF2-40B4-BE49-F238E27FC236}">
                  <a16:creationId xmlns:a16="http://schemas.microsoft.com/office/drawing/2014/main" id="{534ABEDD-191D-79F6-2C95-881D3883CB3D}"/>
                </a:ext>
              </a:extLst>
            </p:cNvPr>
            <p:cNvSpPr>
              <a:spLocks/>
            </p:cNvSpPr>
            <p:nvPr/>
          </p:nvSpPr>
          <p:spPr>
            <a:xfrm rot="16200000">
              <a:off x="6804065" y="3538943"/>
              <a:ext cx="2465152" cy="540000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 w="15875"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marL="0" marR="0" lvl="0" indent="0" algn="ctr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sv-SE" altLang="ja-JP" sz="1600">
                  <a:solidFill>
                    <a:sysClr val="windowText" lastClr="000000"/>
                  </a:solidFill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ML </a:t>
              </a:r>
              <a:r>
                <a:rPr kumimoji="1" lang="sv-SE" altLang="ja-JP" sz="1600" err="1">
                  <a:solidFill>
                    <a:sysClr val="windowText" lastClr="000000"/>
                  </a:solidFill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Runtime</a:t>
              </a:r>
              <a:endParaRPr kumimoji="1" lang="ja-JP" altLang="en-US" sz="1600" b="0" i="0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游ゴシック" panose="020B04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3EE4516D-7C33-A3F6-E7B5-C7791AD7D786}"/>
                </a:ext>
              </a:extLst>
            </p:cNvPr>
            <p:cNvSpPr>
              <a:spLocks/>
            </p:cNvSpPr>
            <p:nvPr/>
          </p:nvSpPr>
          <p:spPr>
            <a:xfrm>
              <a:off x="7491163" y="3573392"/>
              <a:ext cx="270288" cy="535780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角丸四角形 6">
              <a:extLst>
                <a:ext uri="{FF2B5EF4-FFF2-40B4-BE49-F238E27FC236}">
                  <a16:creationId xmlns:a16="http://schemas.microsoft.com/office/drawing/2014/main" id="{F9658CB8-2E82-CCFE-A383-8CC6716E96E7}"/>
                </a:ext>
              </a:extLst>
            </p:cNvPr>
            <p:cNvSpPr>
              <a:spLocks/>
            </p:cNvSpPr>
            <p:nvPr/>
          </p:nvSpPr>
          <p:spPr>
            <a:xfrm>
              <a:off x="6388357" y="3320008"/>
              <a:ext cx="1098040" cy="977868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15875"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60960" rIns="0" bIns="60960" rtlCol="0" anchor="ctr" anchorCtr="1"/>
            <a:lstStyle/>
            <a:p>
              <a:pPr marL="0" marR="0" lvl="0" indent="0" algn="ctr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sv-SE" altLang="ja-JP" sz="1600" dirty="0">
                  <a:solidFill>
                    <a:srgbClr val="FFFFFF"/>
                  </a:solidFill>
                  <a:latin typeface="Arial" panose="020B0604020202020204" pitchFamily="34" charset="0"/>
                  <a:ea typeface="Lato Light"/>
                  <a:cs typeface="Arial" panose="020B0604020202020204" pitchFamily="34" charset="0"/>
                </a:rPr>
                <a:t>Optimized</a:t>
              </a:r>
              <a:br>
                <a:rPr kumimoji="1" lang="sv-SE" altLang="ja-JP" sz="1600" b="0" i="0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/>
                  <a:cs typeface="Arial" panose="020B0604020202020204" pitchFamily="34" charset="0"/>
                </a:rPr>
              </a:br>
              <a:r>
                <a:rPr kumimoji="1" lang="sv-SE" altLang="ja-JP" sz="1600" b="0" i="0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/>
                  <a:cs typeface="Arial" panose="020B0604020202020204" pitchFamily="34" charset="0"/>
                </a:rPr>
                <a:t>ML Model</a:t>
              </a:r>
              <a:endParaRPr kumimoji="0" lang="sv-SE" altLang="ja-JP" sz="1600" b="0" i="0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Lato Light"/>
                <a:cs typeface="Arial" panose="020B0604020202020204" pitchFamily="34" charset="0"/>
              </a:endParaRPr>
            </a:p>
          </p:txBody>
        </p:sp>
        <p:sp>
          <p:nvSpPr>
            <p:cNvPr id="34" name="Process 65">
              <a:extLst>
                <a:ext uri="{FF2B5EF4-FFF2-40B4-BE49-F238E27FC236}">
                  <a16:creationId xmlns:a16="http://schemas.microsoft.com/office/drawing/2014/main" id="{D78E3A6F-F0D1-6849-E045-029BA06C4409}"/>
                </a:ext>
              </a:extLst>
            </p:cNvPr>
            <p:cNvSpPr>
              <a:spLocks/>
            </p:cNvSpPr>
            <p:nvPr/>
          </p:nvSpPr>
          <p:spPr>
            <a:xfrm>
              <a:off x="835176" y="2094471"/>
              <a:ext cx="5138057" cy="3037366"/>
            </a:xfrm>
            <a:prstGeom prst="flowChartProcess">
              <a:avLst/>
            </a:prstGeom>
            <a:solidFill>
              <a:schemeClr val="bg2">
                <a:lumMod val="50000"/>
              </a:schemeClr>
            </a:solidFill>
            <a:ln w="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rtlCol="0" anchor="t"/>
            <a:lstStyle/>
            <a:p>
              <a:pPr defTabSz="1219170">
                <a:defRPr/>
              </a:pPr>
              <a:r>
                <a:rPr kumimoji="1" lang="en-US" sz="16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DEVICE without Ethos-U</a:t>
              </a:r>
            </a:p>
          </p:txBody>
        </p:sp>
        <p:sp>
          <p:nvSpPr>
            <p:cNvPr id="36" name="角丸四角形 7">
              <a:extLst>
                <a:ext uri="{FF2B5EF4-FFF2-40B4-BE49-F238E27FC236}">
                  <a16:creationId xmlns:a16="http://schemas.microsoft.com/office/drawing/2014/main" id="{6BBBE024-73F8-B9C7-4BB1-9903544C7DDE}"/>
                </a:ext>
              </a:extLst>
            </p:cNvPr>
            <p:cNvSpPr>
              <a:spLocks/>
            </p:cNvSpPr>
            <p:nvPr/>
          </p:nvSpPr>
          <p:spPr>
            <a:xfrm>
              <a:off x="3168584" y="2576367"/>
              <a:ext cx="1169871" cy="1007207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rIns="0" rtlCol="0" anchor="ctr" anchorCtr="1"/>
            <a:lstStyle/>
            <a:p>
              <a:pPr marL="0" marR="0" lvl="0" indent="0" algn="ctr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sv-SE" altLang="ja-JP" sz="1600" b="0" i="0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CMSIS-NN</a:t>
              </a:r>
              <a:endPara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endParaRPr>
            </a:p>
            <a:p>
              <a:pPr marL="0" marR="0" lvl="0" indent="0" algn="ctr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sv-SE" altLang="ja-JP" sz="1600" b="0" i="0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Optimized Kernels</a:t>
              </a:r>
              <a:endParaRPr kumimoji="0" lang="en-US" altLang="ja-JP" sz="1600" b="0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C49957D-77F3-55EA-17EF-9B23AB39BC3B}"/>
                </a:ext>
              </a:extLst>
            </p:cNvPr>
            <p:cNvSpPr>
              <a:spLocks/>
            </p:cNvSpPr>
            <p:nvPr/>
          </p:nvSpPr>
          <p:spPr>
            <a:xfrm>
              <a:off x="4663211" y="2582562"/>
              <a:ext cx="1169871" cy="99102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0" i="0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Cortex-M</a:t>
              </a:r>
            </a:p>
            <a:p>
              <a:pPr marL="0" marR="0" lvl="0" indent="0" algn="ctr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0" i="0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CPU</a:t>
              </a:r>
            </a:p>
          </p:txBody>
        </p:sp>
        <p:sp>
          <p:nvSpPr>
            <p:cNvPr id="39" name="Right Arrow 34">
              <a:extLst>
                <a:ext uri="{FF2B5EF4-FFF2-40B4-BE49-F238E27FC236}">
                  <a16:creationId xmlns:a16="http://schemas.microsoft.com/office/drawing/2014/main" id="{3D67194A-E195-C210-13AC-168854671DD3}"/>
                </a:ext>
              </a:extLst>
            </p:cNvPr>
            <p:cNvSpPr>
              <a:spLocks/>
            </p:cNvSpPr>
            <p:nvPr/>
          </p:nvSpPr>
          <p:spPr>
            <a:xfrm>
              <a:off x="4349873" y="2823683"/>
              <a:ext cx="295860" cy="535780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Right Arrow 5">
              <a:extLst>
                <a:ext uri="{FF2B5EF4-FFF2-40B4-BE49-F238E27FC236}">
                  <a16:creationId xmlns:a16="http://schemas.microsoft.com/office/drawing/2014/main" id="{1B3E173C-9509-1FC1-6B49-2B69BA109024}"/>
                </a:ext>
              </a:extLst>
            </p:cNvPr>
            <p:cNvSpPr>
              <a:spLocks/>
            </p:cNvSpPr>
            <p:nvPr/>
          </p:nvSpPr>
          <p:spPr>
            <a:xfrm>
              <a:off x="2866663" y="2836040"/>
              <a:ext cx="295860" cy="535780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角丸四角形 6">
              <a:extLst>
                <a:ext uri="{FF2B5EF4-FFF2-40B4-BE49-F238E27FC236}">
                  <a16:creationId xmlns:a16="http://schemas.microsoft.com/office/drawing/2014/main" id="{58E55F26-B848-08F4-A818-8BB09E835E55}"/>
                </a:ext>
              </a:extLst>
            </p:cNvPr>
            <p:cNvSpPr>
              <a:spLocks/>
            </p:cNvSpPr>
            <p:nvPr/>
          </p:nvSpPr>
          <p:spPr>
            <a:xfrm rot="16200000">
              <a:off x="1356631" y="3538943"/>
              <a:ext cx="2465152" cy="540000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 w="15875">
              <a:solidFill>
                <a:schemeClr val="accent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 anchorCtr="1"/>
            <a:lstStyle/>
            <a:p>
              <a:pPr marL="0" marR="0" lvl="0" indent="0" algn="ctr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sv-SE" altLang="ja-JP" sz="1600">
                  <a:solidFill>
                    <a:sysClr val="windowText" lastClr="000000"/>
                  </a:solidFill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ML </a:t>
              </a:r>
              <a:r>
                <a:rPr kumimoji="1" lang="sv-SE" altLang="ja-JP" sz="1600" err="1">
                  <a:solidFill>
                    <a:sysClr val="windowText" lastClr="000000"/>
                  </a:solidFill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rPr>
                <a:t>Runtime</a:t>
              </a:r>
              <a:endParaRPr kumimoji="1" lang="ja-JP" altLang="en-US" sz="1600" b="0" i="0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游ゴシック" panose="020B04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" name="Right Arrow 9">
              <a:extLst>
                <a:ext uri="{FF2B5EF4-FFF2-40B4-BE49-F238E27FC236}">
                  <a16:creationId xmlns:a16="http://schemas.microsoft.com/office/drawing/2014/main" id="{8E95FA96-2E8D-1B64-BD01-8C4E31AB494D}"/>
                </a:ext>
              </a:extLst>
            </p:cNvPr>
            <p:cNvSpPr>
              <a:spLocks/>
            </p:cNvSpPr>
            <p:nvPr/>
          </p:nvSpPr>
          <p:spPr>
            <a:xfrm>
              <a:off x="2043729" y="3573392"/>
              <a:ext cx="270288" cy="535780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角丸四角形 6">
              <a:extLst>
                <a:ext uri="{FF2B5EF4-FFF2-40B4-BE49-F238E27FC236}">
                  <a16:creationId xmlns:a16="http://schemas.microsoft.com/office/drawing/2014/main" id="{5A2633CC-FA49-C38E-8FF7-4BB7478E5E53}"/>
                </a:ext>
              </a:extLst>
            </p:cNvPr>
            <p:cNvSpPr>
              <a:spLocks/>
            </p:cNvSpPr>
            <p:nvPr/>
          </p:nvSpPr>
          <p:spPr>
            <a:xfrm>
              <a:off x="940923" y="3320008"/>
              <a:ext cx="1098040" cy="977868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15875"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60960" rIns="0" bIns="60960" rtlCol="0" anchor="ctr" anchorCtr="1"/>
            <a:lstStyle/>
            <a:p>
              <a:pPr marL="0" marR="0" lvl="0" indent="0" algn="ctr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sv-SE" altLang="ja-JP" sz="1600" dirty="0">
                  <a:solidFill>
                    <a:srgbClr val="FFFFFF"/>
                  </a:solidFill>
                  <a:latin typeface="Arial" panose="020B0604020202020204" pitchFamily="34" charset="0"/>
                  <a:ea typeface="Lato Light"/>
                  <a:cs typeface="Arial" panose="020B0604020202020204" pitchFamily="34" charset="0"/>
                </a:rPr>
                <a:t>Optimized</a:t>
              </a:r>
              <a:br>
                <a:rPr kumimoji="1" lang="sv-SE" altLang="ja-JP" sz="1600" b="0" i="0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/>
                  <a:cs typeface="Arial" panose="020B0604020202020204" pitchFamily="34" charset="0"/>
                </a:rPr>
              </a:br>
              <a:r>
                <a:rPr kumimoji="1" lang="sv-SE" altLang="ja-JP" sz="1600" b="0" i="0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Lato Light"/>
                  <a:cs typeface="Arial" panose="020B0604020202020204" pitchFamily="34" charset="0"/>
                </a:rPr>
                <a:t>ML Model</a:t>
              </a:r>
              <a:endParaRPr kumimoji="0" lang="sv-SE" altLang="ja-JP" sz="1600" b="0" i="0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Lato Light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2346745"/>
      </p:ext>
    </p:extLst>
  </p:cSld>
  <p:clrMapOvr>
    <a:masterClrMapping/>
  </p:clrMapOvr>
</p:sld>
</file>

<file path=ppt/theme/theme1.xml><?xml version="1.0" encoding="utf-8"?>
<a:theme xmlns:a="http://schemas.openxmlformats.org/drawingml/2006/main" name="Arm_PPT_Public">
  <a:themeElements>
    <a:clrScheme name="Arm PPT">
      <a:dk1>
        <a:srgbClr val="000000"/>
      </a:dk1>
      <a:lt1>
        <a:srgbClr val="FFFFFF"/>
      </a:lt1>
      <a:dk2>
        <a:srgbClr val="333E48"/>
      </a:dk2>
      <a:lt2>
        <a:srgbClr val="E5ECEB"/>
      </a:lt2>
      <a:accent1>
        <a:srgbClr val="0091BD"/>
      </a:accent1>
      <a:accent2>
        <a:srgbClr val="002B49"/>
      </a:accent2>
      <a:accent3>
        <a:srgbClr val="FFC700"/>
      </a:accent3>
      <a:accent4>
        <a:srgbClr val="95D600"/>
      </a:accent4>
      <a:accent5>
        <a:srgbClr val="FF6B00"/>
      </a:accent5>
      <a:accent6>
        <a:srgbClr val="7D868C"/>
      </a:accent6>
      <a:hlink>
        <a:srgbClr val="00C1DE"/>
      </a:hlink>
      <a:folHlink>
        <a:srgbClr val="002F6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90000"/>
          </a:lnSpc>
          <a:spcBef>
            <a:spcPts val="0"/>
          </a:spcBef>
          <a:spcAft>
            <a:spcPts val="600"/>
          </a:spcAft>
          <a:buFont typeface="Arial" panose="020B0604020202020204" pitchFamily="34" charset="0"/>
          <a:buNone/>
          <a:defRPr sz="2100" kern="1200" dirty="0" err="1" smtClean="0">
            <a:solidFill>
              <a:schemeClr val="tx2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7" id="{BAEDCA4E-07D3-CF45-8582-069B713BBD79}" vid="{B429C1B6-4366-0543-9EF0-CA4016DA91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7914</TotalTime>
  <Words>391</Words>
  <Application>Microsoft Office PowerPoint</Application>
  <PresentationFormat>Widescreen</PresentationFormat>
  <Paragraphs>64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Wingdings</vt:lpstr>
      <vt:lpstr>Arm_PPT_Public</vt:lpstr>
      <vt:lpstr>SRAM Only Mode</vt:lpstr>
      <vt:lpstr>Ethos-U Optimized Software Flow for Tensorflow/PyTorch</vt:lpstr>
      <vt:lpstr>PowerPoint Presentation</vt:lpstr>
      <vt:lpstr>Ethos-U Optimized Software Flow for Tensorflow/PyTorch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Reinhard Keil</dc:creator>
  <cp:lastModifiedBy>Reinhard Keil</cp:lastModifiedBy>
  <cp:revision>143</cp:revision>
  <dcterms:created xsi:type="dcterms:W3CDTF">2021-11-12T09:09:53Z</dcterms:created>
  <dcterms:modified xsi:type="dcterms:W3CDTF">2026-08-17T05:40:09Z</dcterms:modified>
</cp:coreProperties>
</file>